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3319" r:id="rId5"/>
    <p:sldId id="3324" r:id="rId6"/>
    <p:sldId id="3323" r:id="rId7"/>
    <p:sldId id="3321" r:id="rId8"/>
    <p:sldId id="3326" r:id="rId9"/>
    <p:sldId id="3325" r:id="rId10"/>
    <p:sldId id="3322" r:id="rId11"/>
    <p:sldId id="3320" r:id="rId12"/>
    <p:sldId id="3327" r:id="rId13"/>
    <p:sldId id="3333" r:id="rId14"/>
    <p:sldId id="3328" r:id="rId15"/>
    <p:sldId id="3329" r:id="rId16"/>
    <p:sldId id="3330" r:id="rId17"/>
    <p:sldId id="3331" r:id="rId18"/>
    <p:sldId id="271" r:id="rId19"/>
  </p:sldIdLst>
  <p:sldSz cx="12192000" cy="6858000"/>
  <p:notesSz cx="12192000" cy="6858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87"/>
    <p:restoredTop sz="85685"/>
  </p:normalViewPr>
  <p:slideViewPr>
    <p:cSldViewPr snapToGrid="0">
      <p:cViewPr varScale="1">
        <p:scale>
          <a:sx n="102" d="100"/>
          <a:sy n="102" d="100"/>
        </p:scale>
        <p:origin x="1256" y="1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3B7863-B36C-CD49-B021-A11AA7480B6B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E14BE9-BD89-1F4F-8196-09DBC4D70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21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14BE9-BD89-1F4F-8196-09DBC4D70D1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12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Document 7">
            <a:extLst>
              <a:ext uri="{FF2B5EF4-FFF2-40B4-BE49-F238E27FC236}">
                <a16:creationId xmlns:a16="http://schemas.microsoft.com/office/drawing/2014/main" id="{DC914F4F-28D8-20EE-77D4-C1BA79570CD8}"/>
              </a:ext>
            </a:extLst>
          </p:cNvPr>
          <p:cNvSpPr/>
          <p:nvPr userDrawn="1"/>
        </p:nvSpPr>
        <p:spPr bwMode="auto">
          <a:xfrm rot="10800000">
            <a:off x="0" y="6176959"/>
            <a:ext cx="12192000" cy="681039"/>
          </a:xfrm>
          <a:prstGeom prst="flowChartDocument">
            <a:avLst/>
          </a:prstGeom>
          <a:gradFill flip="none" rotWithShape="1">
            <a:gsLst>
              <a:gs pos="28000">
                <a:srgbClr val="4875C5">
                  <a:lumMod val="72000"/>
                  <a:lumOff val="28000"/>
                </a:srgb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BB4F4686-AB9D-74BF-BC68-E6A59B377995}"/>
              </a:ext>
            </a:extLst>
          </p:cNvPr>
          <p:cNvSpPr/>
          <p:nvPr userDrawn="1"/>
        </p:nvSpPr>
        <p:spPr bwMode="auto">
          <a:xfrm rot="10800000" flipH="1">
            <a:off x="0" y="6042991"/>
            <a:ext cx="12192000" cy="832952"/>
          </a:xfrm>
          <a:prstGeom prst="flowChartDocument">
            <a:avLst/>
          </a:prstGeom>
          <a:gradFill>
            <a:gsLst>
              <a:gs pos="28000">
                <a:schemeClr val="accent6">
                  <a:lumMod val="75000"/>
                  <a:alpha val="24486"/>
                </a:scheme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A red ball with white letters&#10;&#10;Description automatically generated with medium confidence">
            <a:extLst>
              <a:ext uri="{FF2B5EF4-FFF2-40B4-BE49-F238E27FC236}">
                <a16:creationId xmlns:a16="http://schemas.microsoft.com/office/drawing/2014/main" id="{F92FE6A3-D8C2-BC25-6A57-05567949B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568641" y="6263297"/>
            <a:ext cx="484718" cy="4581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Document 6">
            <a:extLst>
              <a:ext uri="{FF2B5EF4-FFF2-40B4-BE49-F238E27FC236}">
                <a16:creationId xmlns:a16="http://schemas.microsoft.com/office/drawing/2014/main" id="{437A91F9-D8F2-459B-9C08-38F0548918A5}"/>
              </a:ext>
            </a:extLst>
          </p:cNvPr>
          <p:cNvSpPr/>
          <p:nvPr userDrawn="1"/>
        </p:nvSpPr>
        <p:spPr bwMode="auto">
          <a:xfrm rot="10800000">
            <a:off x="0" y="6176959"/>
            <a:ext cx="12192000" cy="681039"/>
          </a:xfrm>
          <a:prstGeom prst="flowChartDocument">
            <a:avLst/>
          </a:prstGeom>
          <a:gradFill flip="none" rotWithShape="1">
            <a:gsLst>
              <a:gs pos="28000">
                <a:srgbClr val="4875C5">
                  <a:lumMod val="72000"/>
                  <a:lumOff val="28000"/>
                </a:srgb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Document 7">
            <a:extLst>
              <a:ext uri="{FF2B5EF4-FFF2-40B4-BE49-F238E27FC236}">
                <a16:creationId xmlns:a16="http://schemas.microsoft.com/office/drawing/2014/main" id="{7E29B9C3-98DE-A496-65D4-662A6FC9590C}"/>
              </a:ext>
            </a:extLst>
          </p:cNvPr>
          <p:cNvSpPr/>
          <p:nvPr userDrawn="1"/>
        </p:nvSpPr>
        <p:spPr bwMode="auto">
          <a:xfrm rot="10800000" flipH="1">
            <a:off x="0" y="6092687"/>
            <a:ext cx="12192000" cy="783254"/>
          </a:xfrm>
          <a:prstGeom prst="flowChartDocument">
            <a:avLst/>
          </a:prstGeom>
          <a:gradFill>
            <a:gsLst>
              <a:gs pos="28000">
                <a:schemeClr val="accent6">
                  <a:lumMod val="75000"/>
                  <a:alpha val="24486"/>
                </a:scheme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A red ball with white letters&#10;&#10;Description automatically generated with medium confidence">
            <a:extLst>
              <a:ext uri="{FF2B5EF4-FFF2-40B4-BE49-F238E27FC236}">
                <a16:creationId xmlns:a16="http://schemas.microsoft.com/office/drawing/2014/main" id="{1EB46EB2-97EF-F9CF-2DFD-66042BFD42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499067" y="6288390"/>
            <a:ext cx="484718" cy="4581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D7383D-184D-2F5F-7B46-0B2ECC324CFB}"/>
              </a:ext>
            </a:extLst>
          </p:cNvPr>
          <p:cNvSpPr txBox="1"/>
          <p:nvPr userDrawn="1"/>
        </p:nvSpPr>
        <p:spPr bwMode="auto">
          <a:xfrm>
            <a:off x="838200" y="6484314"/>
            <a:ext cx="4409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i="1" dirty="0"/>
              <a:t>© Copyrighted by Antrapolation Technology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1391A42-E11C-F743-9438-B0A4888DC256}" type="datetime1">
              <a:rPr lang="en-MY"/>
              <a:t>26/3/2026</a:t>
            </a:fld>
            <a:endParaRPr lang="en-US"/>
          </a:p>
        </p:txBody>
      </p:sp>
      <p:sp>
        <p:nvSpPr>
          <p:cNvPr id="5" name="Document 4">
            <a:extLst>
              <a:ext uri="{FF2B5EF4-FFF2-40B4-BE49-F238E27FC236}">
                <a16:creationId xmlns:a16="http://schemas.microsoft.com/office/drawing/2014/main" id="{EA592677-9042-41F8-6620-B24E4E418FA7}"/>
              </a:ext>
            </a:extLst>
          </p:cNvPr>
          <p:cNvSpPr/>
          <p:nvPr userDrawn="1"/>
        </p:nvSpPr>
        <p:spPr bwMode="auto">
          <a:xfrm rot="10800000">
            <a:off x="0" y="6176959"/>
            <a:ext cx="12192000" cy="681039"/>
          </a:xfrm>
          <a:prstGeom prst="flowChartDocument">
            <a:avLst/>
          </a:prstGeom>
          <a:gradFill flip="none" rotWithShape="1">
            <a:gsLst>
              <a:gs pos="28000">
                <a:srgbClr val="4875C5">
                  <a:lumMod val="72000"/>
                  <a:lumOff val="28000"/>
                </a:srgb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D795687A-2D69-B4CC-8FEA-E0C44C2BF377}"/>
              </a:ext>
            </a:extLst>
          </p:cNvPr>
          <p:cNvSpPr/>
          <p:nvPr userDrawn="1"/>
        </p:nvSpPr>
        <p:spPr bwMode="auto">
          <a:xfrm rot="10800000" flipH="1">
            <a:off x="0" y="6263296"/>
            <a:ext cx="12192000" cy="612647"/>
          </a:xfrm>
          <a:prstGeom prst="flowChartDocument">
            <a:avLst/>
          </a:prstGeom>
          <a:gradFill>
            <a:gsLst>
              <a:gs pos="28000">
                <a:schemeClr val="accent6">
                  <a:lumMod val="75000"/>
                  <a:alpha val="24486"/>
                </a:scheme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 descr="A red ball with white letters&#10;&#10;Description automatically generated with medium confidence">
            <a:extLst>
              <a:ext uri="{FF2B5EF4-FFF2-40B4-BE49-F238E27FC236}">
                <a16:creationId xmlns:a16="http://schemas.microsoft.com/office/drawing/2014/main" id="{1B4961D4-B4EC-DD6D-A699-83C26EC127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568641" y="6263297"/>
            <a:ext cx="484718" cy="4581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083946-20DF-A6C4-B8CA-8D3DFA96B8ED}"/>
              </a:ext>
            </a:extLst>
          </p:cNvPr>
          <p:cNvSpPr txBox="1"/>
          <p:nvPr userDrawn="1"/>
        </p:nvSpPr>
        <p:spPr bwMode="auto">
          <a:xfrm>
            <a:off x="838200" y="6475254"/>
            <a:ext cx="4409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i="1" dirty="0"/>
              <a:t>© Copyrighted by Antrapolation Technology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0BE6D8A-FF4D-ED46-BCD4-9F1D974F104F}" type="datetime1">
              <a:rPr lang="en-MY"/>
              <a:t>26/3/2026</a:t>
            </a:fld>
            <a:endParaRPr lang="en-US"/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B0DEE648-FE66-54D3-1C9E-AA8F4333D064}"/>
              </a:ext>
            </a:extLst>
          </p:cNvPr>
          <p:cNvSpPr/>
          <p:nvPr userDrawn="1"/>
        </p:nvSpPr>
        <p:spPr bwMode="auto">
          <a:xfrm rot="10800000">
            <a:off x="0" y="6176959"/>
            <a:ext cx="12192000" cy="681039"/>
          </a:xfrm>
          <a:prstGeom prst="flowChartDocument">
            <a:avLst/>
          </a:prstGeom>
          <a:gradFill flip="none" rotWithShape="1">
            <a:gsLst>
              <a:gs pos="28000">
                <a:srgbClr val="4875C5">
                  <a:lumMod val="72000"/>
                  <a:lumOff val="28000"/>
                </a:srgb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ocument 6">
            <a:extLst>
              <a:ext uri="{FF2B5EF4-FFF2-40B4-BE49-F238E27FC236}">
                <a16:creationId xmlns:a16="http://schemas.microsoft.com/office/drawing/2014/main" id="{30DDAD5F-D091-CD7A-93A3-A24116E3D591}"/>
              </a:ext>
            </a:extLst>
          </p:cNvPr>
          <p:cNvSpPr/>
          <p:nvPr userDrawn="1"/>
        </p:nvSpPr>
        <p:spPr bwMode="auto">
          <a:xfrm rot="10800000" flipH="1">
            <a:off x="0" y="6263296"/>
            <a:ext cx="12192000" cy="612647"/>
          </a:xfrm>
          <a:prstGeom prst="flowChartDocument">
            <a:avLst/>
          </a:prstGeom>
          <a:gradFill>
            <a:gsLst>
              <a:gs pos="28000">
                <a:schemeClr val="accent6">
                  <a:lumMod val="75000"/>
                  <a:alpha val="24486"/>
                </a:scheme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A red ball with white letters&#10;&#10;Description automatically generated with medium confidence">
            <a:extLst>
              <a:ext uri="{FF2B5EF4-FFF2-40B4-BE49-F238E27FC236}">
                <a16:creationId xmlns:a16="http://schemas.microsoft.com/office/drawing/2014/main" id="{3CCCCFB7-EA25-90AD-770A-5240107471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568641" y="6263297"/>
            <a:ext cx="484718" cy="4581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0E15A8-1D19-F577-2279-E11B17D0D758}"/>
              </a:ext>
            </a:extLst>
          </p:cNvPr>
          <p:cNvSpPr txBox="1"/>
          <p:nvPr userDrawn="1"/>
        </p:nvSpPr>
        <p:spPr bwMode="auto">
          <a:xfrm>
            <a:off x="838200" y="6506613"/>
            <a:ext cx="4409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i="1" dirty="0"/>
              <a:t>© Copyrighted by Antrapolation Technology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680C519-5F2D-D14D-8DDA-FD1132D25143}" type="datetime1">
              <a:rPr lang="en-MY"/>
              <a:t>26/3/2026</a:t>
            </a:fld>
            <a:endParaRPr lang="en-US"/>
          </a:p>
        </p:txBody>
      </p:sp>
      <p:sp>
        <p:nvSpPr>
          <p:cNvPr id="8" name="Document 7">
            <a:extLst>
              <a:ext uri="{FF2B5EF4-FFF2-40B4-BE49-F238E27FC236}">
                <a16:creationId xmlns:a16="http://schemas.microsoft.com/office/drawing/2014/main" id="{B72D82FE-8750-DB11-BB8E-C3F00E4D56B3}"/>
              </a:ext>
            </a:extLst>
          </p:cNvPr>
          <p:cNvSpPr/>
          <p:nvPr userDrawn="1"/>
        </p:nvSpPr>
        <p:spPr bwMode="auto">
          <a:xfrm rot="10800000">
            <a:off x="0" y="6176959"/>
            <a:ext cx="12192000" cy="681039"/>
          </a:xfrm>
          <a:prstGeom prst="flowChartDocument">
            <a:avLst/>
          </a:prstGeom>
          <a:gradFill flip="none" rotWithShape="1">
            <a:gsLst>
              <a:gs pos="28000">
                <a:srgbClr val="4875C5">
                  <a:lumMod val="72000"/>
                  <a:lumOff val="28000"/>
                </a:srgb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1375095E-F532-27E7-8FA9-8CA33BDFC59C}"/>
              </a:ext>
            </a:extLst>
          </p:cNvPr>
          <p:cNvSpPr/>
          <p:nvPr userDrawn="1"/>
        </p:nvSpPr>
        <p:spPr bwMode="auto">
          <a:xfrm rot="10800000" flipH="1">
            <a:off x="0" y="6263296"/>
            <a:ext cx="12192000" cy="612647"/>
          </a:xfrm>
          <a:prstGeom prst="flowChartDocument">
            <a:avLst/>
          </a:prstGeom>
          <a:gradFill>
            <a:gsLst>
              <a:gs pos="28000">
                <a:schemeClr val="accent6">
                  <a:lumMod val="75000"/>
                  <a:alpha val="24486"/>
                </a:scheme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A red ball with white letters&#10;&#10;Description automatically generated with medium confidence">
            <a:extLst>
              <a:ext uri="{FF2B5EF4-FFF2-40B4-BE49-F238E27FC236}">
                <a16:creationId xmlns:a16="http://schemas.microsoft.com/office/drawing/2014/main" id="{15415BAA-68C5-AB89-6725-23D8008CFE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568641" y="6263297"/>
            <a:ext cx="484718" cy="4581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6F0114-4A46-D70B-4D38-1AF478BFEE60}"/>
              </a:ext>
            </a:extLst>
          </p:cNvPr>
          <p:cNvSpPr txBox="1"/>
          <p:nvPr userDrawn="1"/>
        </p:nvSpPr>
        <p:spPr bwMode="auto">
          <a:xfrm>
            <a:off x="838200" y="6484226"/>
            <a:ext cx="4409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i="1" dirty="0"/>
              <a:t>© Copyrighted by Antrapolation Technology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9CDD56B-767A-3043-B9E0-CF61C0139F71}" type="datetime1">
              <a:rPr lang="en-MY"/>
              <a:t>26/3/2026</a:t>
            </a:fld>
            <a:endParaRPr lang="en-US"/>
          </a:p>
        </p:txBody>
      </p:sp>
      <p:sp>
        <p:nvSpPr>
          <p:cNvPr id="4" name="Document 3">
            <a:extLst>
              <a:ext uri="{FF2B5EF4-FFF2-40B4-BE49-F238E27FC236}">
                <a16:creationId xmlns:a16="http://schemas.microsoft.com/office/drawing/2014/main" id="{ADF2059D-C2D4-5348-56E6-52F5CAE57770}"/>
              </a:ext>
            </a:extLst>
          </p:cNvPr>
          <p:cNvSpPr/>
          <p:nvPr userDrawn="1"/>
        </p:nvSpPr>
        <p:spPr bwMode="auto">
          <a:xfrm rot="10800000">
            <a:off x="0" y="6176959"/>
            <a:ext cx="12192000" cy="681039"/>
          </a:xfrm>
          <a:prstGeom prst="flowChartDocument">
            <a:avLst/>
          </a:prstGeom>
          <a:gradFill flip="none" rotWithShape="1">
            <a:gsLst>
              <a:gs pos="28000">
                <a:srgbClr val="4875C5">
                  <a:lumMod val="72000"/>
                  <a:lumOff val="28000"/>
                </a:srgb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Document 4">
            <a:extLst>
              <a:ext uri="{FF2B5EF4-FFF2-40B4-BE49-F238E27FC236}">
                <a16:creationId xmlns:a16="http://schemas.microsoft.com/office/drawing/2014/main" id="{D10ED3A1-E2F8-8C12-4E1C-0FEBAAE8E833}"/>
              </a:ext>
            </a:extLst>
          </p:cNvPr>
          <p:cNvSpPr/>
          <p:nvPr userDrawn="1"/>
        </p:nvSpPr>
        <p:spPr bwMode="auto">
          <a:xfrm rot="10800000" flipH="1">
            <a:off x="0" y="6003235"/>
            <a:ext cx="12192000" cy="872708"/>
          </a:xfrm>
          <a:prstGeom prst="flowChartDocument">
            <a:avLst/>
          </a:prstGeom>
          <a:gradFill>
            <a:gsLst>
              <a:gs pos="28000">
                <a:schemeClr val="accent6">
                  <a:lumMod val="75000"/>
                  <a:alpha val="24486"/>
                </a:scheme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 descr="A red ball with white letters&#10;&#10;Description automatically generated with medium confidence">
            <a:extLst>
              <a:ext uri="{FF2B5EF4-FFF2-40B4-BE49-F238E27FC236}">
                <a16:creationId xmlns:a16="http://schemas.microsoft.com/office/drawing/2014/main" id="{1D3B93C5-92E8-E8FD-7C1A-F3A4762537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568641" y="6263297"/>
            <a:ext cx="484718" cy="4581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0B8476-1841-E01B-855A-90516C5F91A8}"/>
              </a:ext>
            </a:extLst>
          </p:cNvPr>
          <p:cNvSpPr txBox="1"/>
          <p:nvPr userDrawn="1"/>
        </p:nvSpPr>
        <p:spPr bwMode="auto">
          <a:xfrm>
            <a:off x="838200" y="6484226"/>
            <a:ext cx="4409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i="1" dirty="0"/>
              <a:t>© Copyrighted by Antrapolation Technology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0F8B076-CF5C-6247-AFC5-6085F723D7BB}" type="datetime1">
              <a:rPr lang="en-MY"/>
              <a:t>26/3/2026</a:t>
            </a:fld>
            <a:endParaRPr lang="en-US"/>
          </a:p>
        </p:txBody>
      </p:sp>
      <p:sp>
        <p:nvSpPr>
          <p:cNvPr id="3" name="Document 2">
            <a:extLst>
              <a:ext uri="{FF2B5EF4-FFF2-40B4-BE49-F238E27FC236}">
                <a16:creationId xmlns:a16="http://schemas.microsoft.com/office/drawing/2014/main" id="{62E06F61-7B59-A664-F2E7-AC36FD41CB6F}"/>
              </a:ext>
            </a:extLst>
          </p:cNvPr>
          <p:cNvSpPr/>
          <p:nvPr userDrawn="1"/>
        </p:nvSpPr>
        <p:spPr bwMode="auto">
          <a:xfrm rot="10800000">
            <a:off x="0" y="6176959"/>
            <a:ext cx="12192000" cy="681039"/>
          </a:xfrm>
          <a:prstGeom prst="flowChartDocument">
            <a:avLst/>
          </a:prstGeom>
          <a:gradFill flip="none" rotWithShape="1">
            <a:gsLst>
              <a:gs pos="28000">
                <a:srgbClr val="4875C5">
                  <a:lumMod val="72000"/>
                  <a:lumOff val="28000"/>
                </a:srgb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ocument 3">
            <a:extLst>
              <a:ext uri="{FF2B5EF4-FFF2-40B4-BE49-F238E27FC236}">
                <a16:creationId xmlns:a16="http://schemas.microsoft.com/office/drawing/2014/main" id="{29AB6E7F-0D8B-22B9-F84C-82248E38FE11}"/>
              </a:ext>
            </a:extLst>
          </p:cNvPr>
          <p:cNvSpPr/>
          <p:nvPr userDrawn="1"/>
        </p:nvSpPr>
        <p:spPr bwMode="auto">
          <a:xfrm rot="10800000" flipH="1">
            <a:off x="0" y="6062869"/>
            <a:ext cx="12192000" cy="813073"/>
          </a:xfrm>
          <a:prstGeom prst="flowChartDocument">
            <a:avLst/>
          </a:prstGeom>
          <a:gradFill>
            <a:gsLst>
              <a:gs pos="28000">
                <a:schemeClr val="accent6">
                  <a:lumMod val="75000"/>
                  <a:alpha val="24486"/>
                </a:scheme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red ball with white letters&#10;&#10;Description automatically generated with medium confidence">
            <a:extLst>
              <a:ext uri="{FF2B5EF4-FFF2-40B4-BE49-F238E27FC236}">
                <a16:creationId xmlns:a16="http://schemas.microsoft.com/office/drawing/2014/main" id="{8D8AA119-16FE-1041-D00E-FF4EC844B1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568641" y="6263297"/>
            <a:ext cx="484718" cy="4581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3F4362-F9A0-4833-C749-DD48C62170A7}"/>
              </a:ext>
            </a:extLst>
          </p:cNvPr>
          <p:cNvSpPr txBox="1"/>
          <p:nvPr userDrawn="1"/>
        </p:nvSpPr>
        <p:spPr bwMode="auto">
          <a:xfrm>
            <a:off x="838200" y="6475254"/>
            <a:ext cx="4409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i="1" dirty="0"/>
              <a:t>© Copyrighted by Antrapolation Technology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1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074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D7B5691-98AD-AA44-8237-E2C7F94230F5}" type="datetime1">
              <a:rPr lang="en-MY"/>
              <a:t>26/3/2026</a:t>
            </a:fld>
            <a:endParaRPr lang="en-US"/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181DD8D9-5967-3F67-0D3A-8FAC4FD05B11}"/>
              </a:ext>
            </a:extLst>
          </p:cNvPr>
          <p:cNvSpPr/>
          <p:nvPr userDrawn="1"/>
        </p:nvSpPr>
        <p:spPr bwMode="auto">
          <a:xfrm rot="10800000">
            <a:off x="0" y="6176959"/>
            <a:ext cx="12192000" cy="681039"/>
          </a:xfrm>
          <a:prstGeom prst="flowChartDocument">
            <a:avLst/>
          </a:prstGeom>
          <a:gradFill flip="none" rotWithShape="1">
            <a:gsLst>
              <a:gs pos="28000">
                <a:srgbClr val="4875C5">
                  <a:lumMod val="72000"/>
                  <a:lumOff val="28000"/>
                </a:srgb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ocument 6">
            <a:extLst>
              <a:ext uri="{FF2B5EF4-FFF2-40B4-BE49-F238E27FC236}">
                <a16:creationId xmlns:a16="http://schemas.microsoft.com/office/drawing/2014/main" id="{F3827E56-5C48-1A69-4291-CC67C75EE473}"/>
              </a:ext>
            </a:extLst>
          </p:cNvPr>
          <p:cNvSpPr/>
          <p:nvPr userDrawn="1"/>
        </p:nvSpPr>
        <p:spPr bwMode="auto">
          <a:xfrm rot="10800000" flipH="1">
            <a:off x="0" y="6033051"/>
            <a:ext cx="12192000" cy="842891"/>
          </a:xfrm>
          <a:prstGeom prst="flowChartDocument">
            <a:avLst/>
          </a:prstGeom>
          <a:gradFill>
            <a:gsLst>
              <a:gs pos="28000">
                <a:schemeClr val="accent6">
                  <a:lumMod val="75000"/>
                  <a:alpha val="24486"/>
                </a:scheme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A red ball with white letters&#10;&#10;Description automatically generated with medium confidence">
            <a:extLst>
              <a:ext uri="{FF2B5EF4-FFF2-40B4-BE49-F238E27FC236}">
                <a16:creationId xmlns:a16="http://schemas.microsoft.com/office/drawing/2014/main" id="{51B56EB6-7655-4164-5A3A-470069A532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568641" y="6263297"/>
            <a:ext cx="484718" cy="4581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E5B03D3-9A9B-9948-ACA9-A7422C0A3B1B}" type="datetime1">
              <a:rPr lang="en-MY"/>
              <a:t>26/3/2026</a:t>
            </a:fld>
            <a:endParaRPr lang="en-US"/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73B50C95-9E3D-46AE-56A5-3047621511F5}"/>
              </a:ext>
            </a:extLst>
          </p:cNvPr>
          <p:cNvSpPr/>
          <p:nvPr userDrawn="1"/>
        </p:nvSpPr>
        <p:spPr bwMode="auto">
          <a:xfrm rot="10800000">
            <a:off x="0" y="6176959"/>
            <a:ext cx="12192000" cy="681039"/>
          </a:xfrm>
          <a:prstGeom prst="flowChartDocument">
            <a:avLst/>
          </a:prstGeom>
          <a:gradFill flip="none" rotWithShape="1">
            <a:gsLst>
              <a:gs pos="28000">
                <a:srgbClr val="4875C5">
                  <a:lumMod val="72000"/>
                  <a:lumOff val="28000"/>
                </a:srgb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ocument 6">
            <a:extLst>
              <a:ext uri="{FF2B5EF4-FFF2-40B4-BE49-F238E27FC236}">
                <a16:creationId xmlns:a16="http://schemas.microsoft.com/office/drawing/2014/main" id="{30E59DA0-040E-4705-A52F-750CEFE36C43}"/>
              </a:ext>
            </a:extLst>
          </p:cNvPr>
          <p:cNvSpPr/>
          <p:nvPr userDrawn="1"/>
        </p:nvSpPr>
        <p:spPr bwMode="auto">
          <a:xfrm rot="10800000" flipH="1">
            <a:off x="0" y="6169021"/>
            <a:ext cx="12192000" cy="706922"/>
          </a:xfrm>
          <a:prstGeom prst="flowChartDocument">
            <a:avLst/>
          </a:prstGeom>
          <a:gradFill>
            <a:gsLst>
              <a:gs pos="28000">
                <a:schemeClr val="accent6">
                  <a:lumMod val="75000"/>
                  <a:alpha val="24486"/>
                </a:scheme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A red ball with white letters&#10;&#10;Description automatically generated with medium confidence">
            <a:extLst>
              <a:ext uri="{FF2B5EF4-FFF2-40B4-BE49-F238E27FC236}">
                <a16:creationId xmlns:a16="http://schemas.microsoft.com/office/drawing/2014/main" id="{F35228C7-40CF-DA83-9CBD-133A5F813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568641" y="6263297"/>
            <a:ext cx="484718" cy="4581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3CA4131-400C-E84C-B21E-938067779799}" type="datetime1">
              <a:rPr lang="en-MY"/>
              <a:t>26/3/2026</a:t>
            </a:fld>
            <a:endParaRPr lang="en-US"/>
          </a:p>
        </p:txBody>
      </p:sp>
      <p:sp>
        <p:nvSpPr>
          <p:cNvPr id="5" name="Document 4">
            <a:extLst>
              <a:ext uri="{FF2B5EF4-FFF2-40B4-BE49-F238E27FC236}">
                <a16:creationId xmlns:a16="http://schemas.microsoft.com/office/drawing/2014/main" id="{6D0EFE9D-A048-B20A-A16A-5AFBF263B86D}"/>
              </a:ext>
            </a:extLst>
          </p:cNvPr>
          <p:cNvSpPr/>
          <p:nvPr userDrawn="1"/>
        </p:nvSpPr>
        <p:spPr bwMode="auto">
          <a:xfrm rot="10800000">
            <a:off x="0" y="6176959"/>
            <a:ext cx="12192000" cy="681039"/>
          </a:xfrm>
          <a:prstGeom prst="flowChartDocument">
            <a:avLst/>
          </a:prstGeom>
          <a:gradFill flip="none" rotWithShape="1">
            <a:gsLst>
              <a:gs pos="28000">
                <a:srgbClr val="4875C5">
                  <a:lumMod val="72000"/>
                  <a:lumOff val="28000"/>
                </a:srgb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63821F37-F642-8BBC-B323-F76FBA8662B5}"/>
              </a:ext>
            </a:extLst>
          </p:cNvPr>
          <p:cNvSpPr/>
          <p:nvPr userDrawn="1"/>
        </p:nvSpPr>
        <p:spPr bwMode="auto">
          <a:xfrm rot="10800000" flipH="1">
            <a:off x="0" y="6176959"/>
            <a:ext cx="12192000" cy="698984"/>
          </a:xfrm>
          <a:prstGeom prst="flowChartDocument">
            <a:avLst/>
          </a:prstGeom>
          <a:gradFill>
            <a:gsLst>
              <a:gs pos="28000">
                <a:schemeClr val="accent6">
                  <a:lumMod val="75000"/>
                  <a:alpha val="24486"/>
                </a:scheme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 descr="A red ball with white letters&#10;&#10;Description automatically generated with medium confidence">
            <a:extLst>
              <a:ext uri="{FF2B5EF4-FFF2-40B4-BE49-F238E27FC236}">
                <a16:creationId xmlns:a16="http://schemas.microsoft.com/office/drawing/2014/main" id="{4842D1FE-A801-4B11-E5BF-086FDEDAA3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568641" y="6263297"/>
            <a:ext cx="484718" cy="4581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FA69B0A-AE85-EB4A-9E20-FAD5F6230AA4}" type="datetime1">
              <a:rPr lang="en-MY"/>
              <a:t>26/3/2026</a:t>
            </a:fld>
            <a:endParaRPr lang="en-US"/>
          </a:p>
        </p:txBody>
      </p:sp>
      <p:sp>
        <p:nvSpPr>
          <p:cNvPr id="5" name="Document 4">
            <a:extLst>
              <a:ext uri="{FF2B5EF4-FFF2-40B4-BE49-F238E27FC236}">
                <a16:creationId xmlns:a16="http://schemas.microsoft.com/office/drawing/2014/main" id="{767AA6A8-7930-2BBC-003E-3A0A6F8E4C1E}"/>
              </a:ext>
            </a:extLst>
          </p:cNvPr>
          <p:cNvSpPr/>
          <p:nvPr userDrawn="1"/>
        </p:nvSpPr>
        <p:spPr bwMode="auto">
          <a:xfrm rot="10800000">
            <a:off x="0" y="6176959"/>
            <a:ext cx="12192000" cy="681039"/>
          </a:xfrm>
          <a:prstGeom prst="flowChartDocument">
            <a:avLst/>
          </a:prstGeom>
          <a:gradFill flip="none" rotWithShape="1">
            <a:gsLst>
              <a:gs pos="28000">
                <a:srgbClr val="4875C5">
                  <a:lumMod val="72000"/>
                  <a:lumOff val="28000"/>
                </a:srgb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81F5D669-C046-C3F7-4A1F-2AD2D5C70044}"/>
              </a:ext>
            </a:extLst>
          </p:cNvPr>
          <p:cNvSpPr/>
          <p:nvPr userDrawn="1"/>
        </p:nvSpPr>
        <p:spPr bwMode="auto">
          <a:xfrm rot="10800000" flipH="1">
            <a:off x="0" y="6176959"/>
            <a:ext cx="12192000" cy="698984"/>
          </a:xfrm>
          <a:prstGeom prst="flowChartDocument">
            <a:avLst/>
          </a:prstGeom>
          <a:gradFill>
            <a:gsLst>
              <a:gs pos="28000">
                <a:schemeClr val="accent6">
                  <a:lumMod val="75000"/>
                  <a:alpha val="24486"/>
                </a:schemeClr>
              </a:gs>
              <a:gs pos="100000">
                <a:schemeClr val="accent1">
                  <a:satMod val="120000"/>
                  <a:shade val="78000"/>
                  <a:lumMod val="0"/>
                  <a:lumOff val="100000"/>
                </a:schemeClr>
              </a:gs>
            </a:gsLst>
            <a:path path="rect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 descr="A red ball with white letters&#10;&#10;Description automatically generated with medium confidence">
            <a:extLst>
              <a:ext uri="{FF2B5EF4-FFF2-40B4-BE49-F238E27FC236}">
                <a16:creationId xmlns:a16="http://schemas.microsoft.com/office/drawing/2014/main" id="{4AF192D8-E33C-0FCF-98DF-A7FF7F19B1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568641" y="6263297"/>
            <a:ext cx="484718" cy="4581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number and lock symbols on a computer screen&#10;&#10;Description automatically generated">
            <a:extLst>
              <a:ext uri="{FF2B5EF4-FFF2-40B4-BE49-F238E27FC236}">
                <a16:creationId xmlns:a16="http://schemas.microsoft.com/office/drawing/2014/main" id="{C0D5DB27-232C-0361-04F4-BA81C33C4A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11237" y="-10380"/>
            <a:ext cx="12192000" cy="6985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620C82-01DC-C61C-71EF-32432A7CE2D3}"/>
              </a:ext>
            </a:extLst>
          </p:cNvPr>
          <p:cNvSpPr txBox="1"/>
          <p:nvPr userDrawn="1"/>
        </p:nvSpPr>
        <p:spPr>
          <a:xfrm>
            <a:off x="9920177" y="6354375"/>
            <a:ext cx="1986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1EC9419-A674-354D-8290-CC13C1EE79FB}" type="slidenum">
              <a:rPr lang="en-US" sz="1600" smtClean="0">
                <a:solidFill>
                  <a:schemeClr val="bg1"/>
                </a:solidFill>
              </a:rPr>
              <a:t>‹#›</a:t>
            </a:fld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6" name="Picture 5" descr="A blurry image of a city&#10;&#10;Description automatically generated">
            <a:extLst>
              <a:ext uri="{FF2B5EF4-FFF2-40B4-BE49-F238E27FC236}">
                <a16:creationId xmlns:a16="http://schemas.microsoft.com/office/drawing/2014/main" id="{7DB8A377-F9EA-B07B-AB27-B3FDA68C88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48856" y="-62514"/>
            <a:ext cx="10419907" cy="7037472"/>
          </a:xfrm>
          <a:prstGeom prst="rect">
            <a:avLst/>
          </a:prstGeom>
        </p:spPr>
      </p:pic>
      <p:pic>
        <p:nvPicPr>
          <p:cNvPr id="7" name="Picture 6" descr="A red ball with white letters&#10;&#10;Description automatically generated">
            <a:extLst>
              <a:ext uri="{FF2B5EF4-FFF2-40B4-BE49-F238E27FC236}">
                <a16:creationId xmlns:a16="http://schemas.microsoft.com/office/drawing/2014/main" id="{67F770BD-C82A-44F1-C9AA-D3612CDE82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53" y="6220116"/>
            <a:ext cx="584699" cy="58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946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85CA26-6F12-B74C-3E62-5F3F5291B4B5}"/>
              </a:ext>
            </a:extLst>
          </p:cNvPr>
          <p:cNvSpPr txBox="1"/>
          <p:nvPr userDrawn="1"/>
        </p:nvSpPr>
        <p:spPr>
          <a:xfrm>
            <a:off x="9131596" y="6356350"/>
            <a:ext cx="2222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EEC03E6-3923-B346-8B5E-4EFDC5F42E4F}" type="slidenum">
              <a:rPr lang="en-US" sz="1400" smtClean="0"/>
              <a:pPr algn="r"/>
              <a:t>‹#›</a:t>
            </a:fld>
            <a:endParaRPr lang="en-US" sz="1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24E98-2714-E735-05ED-F04C980BFCC8}"/>
              </a:ext>
            </a:extLst>
          </p:cNvPr>
          <p:cNvSpPr txBox="1"/>
          <p:nvPr userDrawn="1"/>
        </p:nvSpPr>
        <p:spPr bwMode="auto">
          <a:xfrm>
            <a:off x="3847214" y="6400412"/>
            <a:ext cx="4497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rgbClr val="FF0000"/>
                </a:solidFill>
              </a:rPr>
              <a:t>CONFIDENTIAL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FE5D4-A586-34A8-F829-1E181E2A210B}"/>
              </a:ext>
            </a:extLst>
          </p:cNvPr>
          <p:cNvSpPr txBox="1"/>
          <p:nvPr userDrawn="1"/>
        </p:nvSpPr>
        <p:spPr>
          <a:xfrm>
            <a:off x="838200" y="6356350"/>
            <a:ext cx="4409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i="1" dirty="0"/>
              <a:t>© Copyrighted by Antrapolation Technology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hd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1E73-45E7-3084-D7B4-FE0DC2BDD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GB" dirty="0"/>
              <a:t>Certificate Authority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33023-82FB-6FC7-C0BD-4D3C55141E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General </a:t>
            </a:r>
            <a:r>
              <a:rPr lang="en-GB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200578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8A3F-C559-C6AD-D9B7-C97ED6BB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25882-D3F5-B833-5EB9-0E3880484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Module that has dual goals:</a:t>
            </a:r>
          </a:p>
          <a:p>
            <a:pPr lvl="1"/>
            <a:r>
              <a:rPr lang="en-GB" dirty="0"/>
              <a:t>Can run as independent system for enterprise grade CA</a:t>
            </a:r>
          </a:p>
          <a:p>
            <a:pPr lvl="1"/>
            <a:r>
              <a:rPr lang="en-GB" dirty="0"/>
              <a:t>Can be an embedded modules (library) for other software modules that requires the X.509 and keypair management</a:t>
            </a:r>
          </a:p>
          <a:p>
            <a:r>
              <a:rPr lang="en-GB" dirty="0"/>
              <a:t>CA system</a:t>
            </a:r>
          </a:p>
          <a:p>
            <a:pPr lvl="1"/>
            <a:r>
              <a:rPr lang="en-GB" dirty="0"/>
              <a:t>Workflow system to manage issuer keypairs for subscriber’s certificate lifecycle</a:t>
            </a:r>
          </a:p>
          <a:p>
            <a:pPr lvl="2"/>
            <a:r>
              <a:rPr lang="en-GB" dirty="0"/>
              <a:t>Standard Maker-Checker/Approval workflow should be in place</a:t>
            </a:r>
          </a:p>
          <a:p>
            <a:pPr lvl="2"/>
            <a:r>
              <a:rPr lang="en-GB" dirty="0"/>
              <a:t>All high trust online security system should apply here</a:t>
            </a:r>
          </a:p>
        </p:txBody>
      </p:sp>
    </p:spTree>
    <p:extLst>
      <p:ext uri="{BB962C8B-B14F-4D97-AF65-F5344CB8AC3E}">
        <p14:creationId xmlns:p14="http://schemas.microsoft.com/office/powerpoint/2010/main" val="334173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DF7EE-5831-ED47-0DE4-BB9BC2E3C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A46A1-EC98-11CE-BC43-C21EC358F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Credential</a:t>
            </a:r>
          </a:p>
          <a:p>
            <a:pPr lvl="1"/>
            <a:r>
              <a:rPr lang="en-GB" dirty="0"/>
              <a:t>Keep user profile</a:t>
            </a:r>
          </a:p>
          <a:p>
            <a:pPr lvl="1"/>
            <a:r>
              <a:rPr lang="en-GB" dirty="0"/>
              <a:t>Each user will have single entry, with respective role assigned</a:t>
            </a:r>
          </a:p>
          <a:p>
            <a:pPr lvl="1"/>
            <a:r>
              <a:rPr lang="en-GB" dirty="0"/>
              <a:t>Each user will have dual keypairs – signing &amp; KEM, protected by password</a:t>
            </a:r>
          </a:p>
          <a:p>
            <a:pPr lvl="1"/>
            <a:r>
              <a:rPr lang="en-GB" dirty="0"/>
              <a:t>Each user will NOT have certificate</a:t>
            </a:r>
          </a:p>
          <a:p>
            <a:pPr lvl="2"/>
            <a:r>
              <a:rPr lang="en-GB" dirty="0"/>
              <a:t>Public key is signed by eligible admin (refers RBAC) who created the credential *</a:t>
            </a:r>
          </a:p>
          <a:p>
            <a:r>
              <a:rPr lang="en-GB" dirty="0"/>
              <a:t>Keypair</a:t>
            </a:r>
          </a:p>
          <a:p>
            <a:pPr lvl="1"/>
            <a:r>
              <a:rPr lang="en-GB" dirty="0"/>
              <a:t>Keep keypair info – Only signing for now</a:t>
            </a:r>
          </a:p>
          <a:p>
            <a:pPr lvl="1"/>
            <a:r>
              <a:rPr lang="en-GB" dirty="0"/>
              <a:t>Keypair will have initial status of ”pending”, when there is no certificate yet</a:t>
            </a:r>
          </a:p>
          <a:p>
            <a:pPr lvl="1"/>
            <a:r>
              <a:rPr lang="en-GB" dirty="0"/>
              <a:t>Eligible admin (refers RBAC) can create</a:t>
            </a:r>
          </a:p>
          <a:p>
            <a:pPr lvl="2"/>
            <a:r>
              <a:rPr lang="en-GB" dirty="0"/>
              <a:t>Self-sign certificate</a:t>
            </a:r>
          </a:p>
          <a:p>
            <a:pPr lvl="2"/>
            <a:r>
              <a:rPr lang="en-GB" dirty="0"/>
              <a:t>Certificate Signing Request (CSR) </a:t>
            </a:r>
          </a:p>
        </p:txBody>
      </p:sp>
    </p:spTree>
    <p:extLst>
      <p:ext uri="{BB962C8B-B14F-4D97-AF65-F5344CB8AC3E}">
        <p14:creationId xmlns:p14="http://schemas.microsoft.com/office/powerpoint/2010/main" val="2108254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2150F-AF8D-16DE-4FCE-22F3995C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Role Base Access Control (RBAC)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231ECF-A8D4-36A1-7BC5-CA0E8C2284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6363286"/>
              </p:ext>
            </p:extLst>
          </p:nvPr>
        </p:nvGraphicFramePr>
        <p:xfrm>
          <a:off x="838200" y="1487405"/>
          <a:ext cx="10515600" cy="494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422">
                  <a:extLst>
                    <a:ext uri="{9D8B030D-6E8A-4147-A177-3AD203B41FA5}">
                      <a16:colId xmlns:a16="http://schemas.microsoft.com/office/drawing/2014/main" val="3859901576"/>
                    </a:ext>
                  </a:extLst>
                </a:gridCol>
                <a:gridCol w="8648178">
                  <a:extLst>
                    <a:ext uri="{9D8B030D-6E8A-4147-A177-3AD203B41FA5}">
                      <a16:colId xmlns:a16="http://schemas.microsoft.com/office/drawing/2014/main" val="2346311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48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CA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Manage system parameters</a:t>
                      </a:r>
                    </a:p>
                    <a:p>
                      <a:r>
                        <a:rPr lang="en-GB" dirty="0"/>
                        <a:t>Manage CA Admin, Key Admin, RA Admin &amp; Auditor</a:t>
                      </a:r>
                    </a:p>
                    <a:p>
                      <a:r>
                        <a:rPr lang="en-GB" dirty="0"/>
                        <a:t>View audit trail (app + security)</a:t>
                      </a:r>
                    </a:p>
                    <a:p>
                      <a:r>
                        <a:rPr lang="en-GB" dirty="0"/>
                        <a:t>Initialize system keypairs and certificates</a:t>
                      </a:r>
                    </a:p>
                    <a:p>
                      <a:r>
                        <a:rPr lang="en-GB" dirty="0"/>
                        <a:t>Manage remote access credentials (CRUD)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31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Key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Manage Key Admin</a:t>
                      </a:r>
                    </a:p>
                    <a:p>
                      <a:r>
                        <a:rPr lang="en-GB" dirty="0"/>
                        <a:t>Manage private key store (</a:t>
                      </a:r>
                      <a:r>
                        <a:rPr lang="en-GB" dirty="0" err="1"/>
                        <a:t>e.g</a:t>
                      </a:r>
                      <a:r>
                        <a:rPr lang="en-GB" dirty="0"/>
                        <a:t> HSM, software)</a:t>
                      </a:r>
                    </a:p>
                    <a:p>
                      <a:r>
                        <a:rPr lang="en-GB" dirty="0"/>
                        <a:t>Manage keypair (CRUD)</a:t>
                      </a:r>
                    </a:p>
                    <a:p>
                      <a:r>
                        <a:rPr lang="en-GB" dirty="0"/>
                        <a:t>Authorized Key Ceremony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189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RA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Manage RA Officer</a:t>
                      </a:r>
                    </a:p>
                    <a:p>
                      <a:r>
                        <a:rPr lang="en-GB" dirty="0"/>
                        <a:t>Manage RA Admin</a:t>
                      </a:r>
                    </a:p>
                    <a:p>
                      <a:r>
                        <a:rPr lang="en-GB" dirty="0"/>
                        <a:t>View application audit trail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916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RA Officer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Request certificate issuance by sending in CSR and cert profile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207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View audit log (app + security)</a:t>
                      </a:r>
                    </a:p>
                    <a:p>
                      <a:r>
                        <a:rPr lang="en-GB" dirty="0"/>
                        <a:t>Oversee Key Ceremony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648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45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BF546-EC67-FB8D-431F-22F81A629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X.509 Certificate Hierarchy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461F1BB-94C9-A7CC-FD92-F88406DFE902}"/>
              </a:ext>
            </a:extLst>
          </p:cNvPr>
          <p:cNvSpPr/>
          <p:nvPr/>
        </p:nvSpPr>
        <p:spPr>
          <a:xfrm>
            <a:off x="4112623" y="1384663"/>
            <a:ext cx="219456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Root CA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9243EC5-A573-1A8B-C549-CE1279394002}"/>
              </a:ext>
            </a:extLst>
          </p:cNvPr>
          <p:cNvSpPr/>
          <p:nvPr/>
        </p:nvSpPr>
        <p:spPr>
          <a:xfrm>
            <a:off x="6720840" y="2621281"/>
            <a:ext cx="2194560" cy="9144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 CA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A439E0-5055-7B82-86F6-FBA1351A52BC}"/>
              </a:ext>
            </a:extLst>
          </p:cNvPr>
          <p:cNvSpPr/>
          <p:nvPr/>
        </p:nvSpPr>
        <p:spPr>
          <a:xfrm>
            <a:off x="4112623" y="2621281"/>
            <a:ext cx="2194560" cy="9144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 CA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C87EDE-CA57-8AFC-8BE6-139F8C046F53}"/>
              </a:ext>
            </a:extLst>
          </p:cNvPr>
          <p:cNvSpPr/>
          <p:nvPr/>
        </p:nvSpPr>
        <p:spPr>
          <a:xfrm>
            <a:off x="1504406" y="2621281"/>
            <a:ext cx="2194560" cy="9144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 CA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91ED703-772D-A11C-645D-91FE6A9E0844}"/>
              </a:ext>
            </a:extLst>
          </p:cNvPr>
          <p:cNvSpPr/>
          <p:nvPr/>
        </p:nvSpPr>
        <p:spPr>
          <a:xfrm>
            <a:off x="6720840" y="3844835"/>
            <a:ext cx="2194560" cy="9144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 CA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F7775FD-13B2-EA87-3D69-3E2A89B26700}"/>
              </a:ext>
            </a:extLst>
          </p:cNvPr>
          <p:cNvSpPr/>
          <p:nvPr/>
        </p:nvSpPr>
        <p:spPr>
          <a:xfrm>
            <a:off x="9159240" y="3844835"/>
            <a:ext cx="2194560" cy="9144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 CA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189A13-04B5-1465-9DCA-74B630D2BB28}"/>
              </a:ext>
            </a:extLst>
          </p:cNvPr>
          <p:cNvSpPr/>
          <p:nvPr/>
        </p:nvSpPr>
        <p:spPr>
          <a:xfrm>
            <a:off x="1504406" y="3844835"/>
            <a:ext cx="2194560" cy="9144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 CA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CD34040-5ED1-CB4E-278F-1E233B607FAB}"/>
              </a:ext>
            </a:extLst>
          </p:cNvPr>
          <p:cNvSpPr/>
          <p:nvPr/>
        </p:nvSpPr>
        <p:spPr>
          <a:xfrm>
            <a:off x="1504406" y="5225143"/>
            <a:ext cx="2194560" cy="9144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Subscriber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FB3607B-2859-FC2B-2AB7-CEB7B680D722}"/>
              </a:ext>
            </a:extLst>
          </p:cNvPr>
          <p:cNvSpPr/>
          <p:nvPr/>
        </p:nvSpPr>
        <p:spPr>
          <a:xfrm>
            <a:off x="6720840" y="5225143"/>
            <a:ext cx="2194560" cy="9144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Subscriber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2DF879-D834-3963-AC39-637F6B5DC44E}"/>
              </a:ext>
            </a:extLst>
          </p:cNvPr>
          <p:cNvSpPr/>
          <p:nvPr/>
        </p:nvSpPr>
        <p:spPr>
          <a:xfrm>
            <a:off x="9159240" y="5199017"/>
            <a:ext cx="2194560" cy="9144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Subscriber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38443CC-FEA2-A25E-C923-C94C8E379A3F}"/>
              </a:ext>
            </a:extLst>
          </p:cNvPr>
          <p:cNvSpPr/>
          <p:nvPr/>
        </p:nvSpPr>
        <p:spPr>
          <a:xfrm>
            <a:off x="4112623" y="5225143"/>
            <a:ext cx="2194560" cy="9144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Subscriber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DA7A2B6-EB43-0246-1EA2-CA625C6FBF1B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209903" y="2299063"/>
            <a:ext cx="0" cy="3222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30046A94-86B0-2F56-8E12-11A74336D26E}"/>
              </a:ext>
            </a:extLst>
          </p:cNvPr>
          <p:cNvCxnSpPr>
            <a:cxnSpLocks/>
            <a:stCxn id="4" idx="1"/>
            <a:endCxn id="7" idx="0"/>
          </p:cNvCxnSpPr>
          <p:nvPr/>
        </p:nvCxnSpPr>
        <p:spPr>
          <a:xfrm rot="10800000" flipV="1">
            <a:off x="2601687" y="1841863"/>
            <a:ext cx="1510937" cy="779418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6B13B587-B52B-E69C-2443-AA72A1234ADE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6307183" y="1841863"/>
            <a:ext cx="1510937" cy="779418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4410271-5727-AF5B-C0E4-7B237D78C5A2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7818120" y="3535681"/>
            <a:ext cx="0" cy="3091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5BA942D5-0B42-44E2-6D27-C80B13AEE0A6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>
            <a:off x="8915400" y="3078481"/>
            <a:ext cx="1341120" cy="766354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6467BBF-C59A-53C9-748B-1DB3CE1AED30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2601686" y="3535681"/>
            <a:ext cx="0" cy="3091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FB5D05E-3CCC-C713-37E2-5EDE6179741C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10256520" y="4759235"/>
            <a:ext cx="0" cy="4397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B2C039-7B2F-81A6-E545-20B23FE86602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7818120" y="4759235"/>
            <a:ext cx="0" cy="4659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7AB9D5C-FA20-A5E5-6229-262432D46088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5209903" y="3535681"/>
            <a:ext cx="0" cy="16894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2AF1518-59A4-0D76-8140-B0DF4242EB6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2601686" y="4759235"/>
            <a:ext cx="0" cy="4659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3DF310A-9BED-09B1-7AC9-43172E3BD399}"/>
              </a:ext>
            </a:extLst>
          </p:cNvPr>
          <p:cNvSpPr txBox="1"/>
          <p:nvPr/>
        </p:nvSpPr>
        <p:spPr>
          <a:xfrm>
            <a:off x="8232840" y="1443110"/>
            <a:ext cx="3559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Subject expiry date cannot be later then issuer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5434F45C-3BA0-58F0-E07B-8DB55B53413D}"/>
              </a:ext>
            </a:extLst>
          </p:cNvPr>
          <p:cNvSpPr/>
          <p:nvPr/>
        </p:nvSpPr>
        <p:spPr>
          <a:xfrm>
            <a:off x="1183703" y="3657600"/>
            <a:ext cx="10515600" cy="1302707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B05857-34EA-62C1-9413-F1A70A233ECE}"/>
              </a:ext>
            </a:extLst>
          </p:cNvPr>
          <p:cNvSpPr txBox="1"/>
          <p:nvPr/>
        </p:nvSpPr>
        <p:spPr>
          <a:xfrm>
            <a:off x="196652" y="4057246"/>
            <a:ext cx="876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Leaf Issuer</a:t>
            </a:r>
          </a:p>
        </p:txBody>
      </p:sp>
    </p:spTree>
    <p:extLst>
      <p:ext uri="{BB962C8B-B14F-4D97-AF65-F5344CB8AC3E}">
        <p14:creationId xmlns:p14="http://schemas.microsoft.com/office/powerpoint/2010/main" val="760502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82A8-309A-B87F-87C3-09ADBACFB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Keypair Protection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6C8019-BA72-C5CE-7070-4A47D062D6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4128425"/>
              </p:ext>
            </p:extLst>
          </p:nvPr>
        </p:nvGraphicFramePr>
        <p:xfrm>
          <a:off x="838200" y="1825625"/>
          <a:ext cx="10515597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520">
                  <a:extLst>
                    <a:ext uri="{9D8B030D-6E8A-4147-A177-3AD203B41FA5}">
                      <a16:colId xmlns:a16="http://schemas.microsoft.com/office/drawing/2014/main" val="3509797244"/>
                    </a:ext>
                  </a:extLst>
                </a:gridCol>
                <a:gridCol w="3592286">
                  <a:extLst>
                    <a:ext uri="{9D8B030D-6E8A-4147-A177-3AD203B41FA5}">
                      <a16:colId xmlns:a16="http://schemas.microsoft.com/office/drawing/2014/main" val="2506852185"/>
                    </a:ext>
                  </a:extLst>
                </a:gridCol>
                <a:gridCol w="4286791">
                  <a:extLst>
                    <a:ext uri="{9D8B030D-6E8A-4147-A177-3AD203B41FA5}">
                      <a16:colId xmlns:a16="http://schemas.microsoft.com/office/drawing/2014/main" val="2867229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Keypair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Target Keypair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840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Split auth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Split the password or auth token that activate the private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Root keypair (Ent. CA / embedded)</a:t>
                      </a:r>
                    </a:p>
                    <a:p>
                      <a:r>
                        <a:rPr lang="en-GB" dirty="0"/>
                        <a:t>Sub root keypair (Ent. CA / embedded)*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82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Split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Split the private key itself into threshold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Root keypair (embedded)</a:t>
                      </a:r>
                    </a:p>
                    <a:p>
                      <a:r>
                        <a:rPr lang="en-GB" dirty="0"/>
                        <a:t>Sub root keypair (Ent. CA / embedded)*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272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Credential owned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Keypair is owned by the creator</a:t>
                      </a:r>
                    </a:p>
                    <a:p>
                      <a:r>
                        <a:rPr lang="en-GB" dirty="0"/>
                        <a:t>Creator can delegate the access of the keypair to another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Sub root keypair (Ent. CA / embedded) – Leaf Issuer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774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507E03-ECFE-2082-BC3F-458D4EF391F2}"/>
              </a:ext>
            </a:extLst>
          </p:cNvPr>
          <p:cNvSpPr txBox="1"/>
          <p:nvPr/>
        </p:nvSpPr>
        <p:spPr>
          <a:xfrm>
            <a:off x="838200" y="5674290"/>
            <a:ext cx="6495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* More common on non-leaf issuer because of operational issue</a:t>
            </a:r>
          </a:p>
        </p:txBody>
      </p:sp>
    </p:spTree>
    <p:extLst>
      <p:ext uri="{BB962C8B-B14F-4D97-AF65-F5344CB8AC3E}">
        <p14:creationId xmlns:p14="http://schemas.microsoft.com/office/powerpoint/2010/main" val="1381148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77F0D-31CF-71EE-887D-483F2320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Bootstrap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32BD30-5F23-91C5-55C5-C41DB1EEFB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2264966"/>
              </p:ext>
            </p:extLst>
          </p:nvPr>
        </p:nvGraphicFramePr>
        <p:xfrm>
          <a:off x="838200" y="3429000"/>
          <a:ext cx="10247334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5674">
                  <a:extLst>
                    <a:ext uri="{9D8B030D-6E8A-4147-A177-3AD203B41FA5}">
                      <a16:colId xmlns:a16="http://schemas.microsoft.com/office/drawing/2014/main" val="156574705"/>
                    </a:ext>
                  </a:extLst>
                </a:gridCol>
                <a:gridCol w="5611660">
                  <a:extLst>
                    <a:ext uri="{9D8B030D-6E8A-4147-A177-3AD203B41FA5}">
                      <a16:colId xmlns:a16="http://schemas.microsoft.com/office/drawing/2014/main" val="2095493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System Keypair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60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:root – System 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Create keypairs (sign only), random password encrypted by 1</a:t>
                      </a:r>
                      <a:r>
                        <a:rPr lang="en-GB" baseline="30000" dirty="0"/>
                        <a:t>st</a:t>
                      </a:r>
                      <a:r>
                        <a:rPr lang="en-GB" dirty="0"/>
                        <a:t> CA Admin’s KEM public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05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:</a:t>
                      </a:r>
                      <a:r>
                        <a:rPr lang="en-GB" dirty="0" err="1"/>
                        <a:t>sub_root</a:t>
                      </a:r>
                      <a:r>
                        <a:rPr lang="en-GB" dirty="0"/>
                        <a:t> – Operational 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Create keypairs (sign only), random password encrypted by 1</a:t>
                      </a:r>
                      <a:r>
                        <a:rPr lang="en-GB" baseline="30000" dirty="0"/>
                        <a:t>st</a:t>
                      </a:r>
                      <a:r>
                        <a:rPr lang="en-GB" dirty="0"/>
                        <a:t> CA Admin’s KEM public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375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:</a:t>
                      </a:r>
                      <a:r>
                        <a:rPr lang="en-GB" dirty="0" err="1"/>
                        <a:t>strap_ca_remote_service_host_signing_key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Create keypairs (sign only), random password encrypted by 1</a:t>
                      </a:r>
                      <a:r>
                        <a:rPr lang="en-GB" baseline="30000" dirty="0"/>
                        <a:t>st</a:t>
                      </a:r>
                      <a:r>
                        <a:rPr lang="en-GB" dirty="0"/>
                        <a:t> CA Admin’s KEM public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167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:</a:t>
                      </a:r>
                      <a:r>
                        <a:rPr lang="en-GB" dirty="0" err="1"/>
                        <a:t>strap_ca_remote_service_host_cipher_key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Create keypairs (sign only), random password encrypted by 1</a:t>
                      </a:r>
                      <a:r>
                        <a:rPr lang="en-GB" baseline="30000" dirty="0"/>
                        <a:t>st</a:t>
                      </a:r>
                      <a:r>
                        <a:rPr lang="en-GB" dirty="0"/>
                        <a:t> CA Admin’s KEM public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35398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4860E83-33FA-4BE5-9B62-83E432BBFB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9218252"/>
              </p:ext>
            </p:extLst>
          </p:nvPr>
        </p:nvGraphicFramePr>
        <p:xfrm>
          <a:off x="838200" y="1562578"/>
          <a:ext cx="10247334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5674">
                  <a:extLst>
                    <a:ext uri="{9D8B030D-6E8A-4147-A177-3AD203B41FA5}">
                      <a16:colId xmlns:a16="http://schemas.microsoft.com/office/drawing/2014/main" val="156574705"/>
                    </a:ext>
                  </a:extLst>
                </a:gridCol>
                <a:gridCol w="5611660">
                  <a:extLst>
                    <a:ext uri="{9D8B030D-6E8A-4147-A177-3AD203B41FA5}">
                      <a16:colId xmlns:a16="http://schemas.microsoft.com/office/drawing/2014/main" val="2095493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Bootstrap Credential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60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r>
                        <a:rPr lang="en-GB" baseline="30000" dirty="0"/>
                        <a:t>st</a:t>
                      </a:r>
                      <a:r>
                        <a:rPr lang="en-GB" dirty="0"/>
                        <a:t> CA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Create credential (with sign &amp; KEM keypair), user given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05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Keypair ACL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Create credential (with sign &amp; KEM keypair), random password encrypted by 1</a:t>
                      </a:r>
                      <a:r>
                        <a:rPr lang="en-GB" baseline="30000" dirty="0"/>
                        <a:t>st</a:t>
                      </a:r>
                      <a:r>
                        <a:rPr lang="en-GB" dirty="0"/>
                        <a:t> CA Admin’s KEM public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375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6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595D-7398-A180-341F-E7FE76968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Root Key Creation (Enterprise)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612ED38-3270-CF53-4D31-8B3C9D13D66E}"/>
              </a:ext>
            </a:extLst>
          </p:cNvPr>
          <p:cNvSpPr/>
          <p:nvPr/>
        </p:nvSpPr>
        <p:spPr>
          <a:xfrm>
            <a:off x="5059380" y="2069004"/>
            <a:ext cx="2505206" cy="7265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Key Ceremony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0E346F-AD3C-3FEB-9F57-510FCA031D8D}"/>
              </a:ext>
            </a:extLst>
          </p:cNvPr>
          <p:cNvSpPr txBox="1"/>
          <p:nvPr/>
        </p:nvSpPr>
        <p:spPr>
          <a:xfrm>
            <a:off x="1114816" y="2041742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Key Admin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9D0BDD-B467-5DAE-5B3D-B86893D0A83C}"/>
              </a:ext>
            </a:extLst>
          </p:cNvPr>
          <p:cNvSpPr txBox="1"/>
          <p:nvPr/>
        </p:nvSpPr>
        <p:spPr>
          <a:xfrm>
            <a:off x="1114816" y="2577462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Key Admin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611474-7CD8-B9DA-A81C-24150BF2D357}"/>
              </a:ext>
            </a:extLst>
          </p:cNvPr>
          <p:cNvSpPr txBox="1"/>
          <p:nvPr/>
        </p:nvSpPr>
        <p:spPr>
          <a:xfrm>
            <a:off x="10620969" y="2261102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Auditor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D71B394A-4B13-282E-6617-0DABA0086C91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2517764" y="2226408"/>
            <a:ext cx="2541616" cy="20585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188F5200-AEF2-A074-90FA-833FCA8FE4CB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2517764" y="2432259"/>
            <a:ext cx="2541616" cy="32986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A7BD674-3B13-E6EF-50C1-0BAB1F9B1CD0}"/>
              </a:ext>
            </a:extLst>
          </p:cNvPr>
          <p:cNvSpPr txBox="1"/>
          <p:nvPr/>
        </p:nvSpPr>
        <p:spPr>
          <a:xfrm>
            <a:off x="3289770" y="2249184"/>
            <a:ext cx="126188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Authorized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EC80C35-2063-6A34-6092-10ABFCB35B38}"/>
              </a:ext>
            </a:extLst>
          </p:cNvPr>
          <p:cNvSpPr/>
          <p:nvPr/>
        </p:nvSpPr>
        <p:spPr>
          <a:xfrm>
            <a:off x="5059380" y="3248354"/>
            <a:ext cx="2505206" cy="7265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Generate Keypair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64F1AF4-F88C-FC59-3148-134A1CA21E4D}"/>
              </a:ext>
            </a:extLst>
          </p:cNvPr>
          <p:cNvSpPr/>
          <p:nvPr/>
        </p:nvSpPr>
        <p:spPr>
          <a:xfrm>
            <a:off x="3180476" y="4813786"/>
            <a:ext cx="2505206" cy="12996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Generate either:</a:t>
            </a:r>
          </a:p>
          <a:p>
            <a:pPr algn="ctr"/>
            <a:r>
              <a:rPr lang="en-GB" dirty="0"/>
              <a:t>Self-Sign Certificate OR</a:t>
            </a:r>
          </a:p>
          <a:p>
            <a:pPr algn="ctr"/>
            <a:r>
              <a:rPr lang="en-GB" dirty="0"/>
              <a:t>CSR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4F1300A-7D26-ED90-467C-AA3EB158EA87}"/>
              </a:ext>
            </a:extLst>
          </p:cNvPr>
          <p:cNvSpPr/>
          <p:nvPr/>
        </p:nvSpPr>
        <p:spPr>
          <a:xfrm>
            <a:off x="9008475" y="3248354"/>
            <a:ext cx="2505206" cy="7265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Store Keypair in HSM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AAA5A2-0F91-CC9D-40A6-975800066F65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7564586" y="3611609"/>
            <a:ext cx="144388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4483BF-0B47-1D8F-111B-401F0AC4AE45}"/>
              </a:ext>
            </a:extLst>
          </p:cNvPr>
          <p:cNvCxnSpPr>
            <a:cxnSpLocks/>
            <a:stCxn id="4" idx="2"/>
            <a:endCxn id="20" idx="0"/>
          </p:cNvCxnSpPr>
          <p:nvPr/>
        </p:nvCxnSpPr>
        <p:spPr>
          <a:xfrm>
            <a:off x="6311983" y="2795514"/>
            <a:ext cx="0" cy="4528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C5F4674-BB81-0087-4A83-CD898DE254B2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flipH="1">
            <a:off x="4433079" y="3974864"/>
            <a:ext cx="1878904" cy="8389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9DFC568-DB21-D701-6F52-4F51DEEA64E5}"/>
              </a:ext>
            </a:extLst>
          </p:cNvPr>
          <p:cNvSpPr/>
          <p:nvPr/>
        </p:nvSpPr>
        <p:spPr>
          <a:xfrm>
            <a:off x="7134942" y="4813787"/>
            <a:ext cx="3223903" cy="12996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Password to activate keypair is split into threshold scheme (Supported by HSM)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693393-CE13-6FDB-A196-BCA2240E0633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>
            <a:off x="6311983" y="3974864"/>
            <a:ext cx="2434911" cy="8389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D01BC7EE-6072-B977-A8C0-16256888CD1A}"/>
              </a:ext>
            </a:extLst>
          </p:cNvPr>
          <p:cNvCxnSpPr>
            <a:cxnSpLocks/>
            <a:stCxn id="7" idx="1"/>
            <a:endCxn id="4" idx="3"/>
          </p:cNvCxnSpPr>
          <p:nvPr/>
        </p:nvCxnSpPr>
        <p:spPr>
          <a:xfrm rot="10800000">
            <a:off x="7564587" y="2432260"/>
            <a:ext cx="3056383" cy="135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1A58FFB-559B-1112-3E10-D41677D808B4}"/>
              </a:ext>
            </a:extLst>
          </p:cNvPr>
          <p:cNvSpPr txBox="1"/>
          <p:nvPr/>
        </p:nvSpPr>
        <p:spPr>
          <a:xfrm>
            <a:off x="8144793" y="2233583"/>
            <a:ext cx="211628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Oversee/Supervise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0EC6DD-EC2E-C1C3-A000-D76BC36E34B4}"/>
              </a:ext>
            </a:extLst>
          </p:cNvPr>
          <p:cNvSpPr txBox="1"/>
          <p:nvPr/>
        </p:nvSpPr>
        <p:spPr>
          <a:xfrm>
            <a:off x="327638" y="3342371"/>
            <a:ext cx="40767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Whole key ceremony 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Attended by all 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whole process is video recorded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Part of certification submission</a:t>
            </a:r>
          </a:p>
        </p:txBody>
      </p:sp>
    </p:spTree>
    <p:extLst>
      <p:ext uri="{BB962C8B-B14F-4D97-AF65-F5344CB8AC3E}">
        <p14:creationId xmlns:p14="http://schemas.microsoft.com/office/powerpoint/2010/main" val="3176695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DE50C-A2B4-BC52-3B69-893CB15B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91DDE-23D2-E2ED-1B41-16FD8B547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Root Key Creation (Embedded)</a:t>
            </a:r>
            <a:br>
              <a:rPr lang="en-GB" dirty="0"/>
            </a:br>
            <a:r>
              <a:rPr lang="en-GB" dirty="0"/>
              <a:t>Sub Root Key Creation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6F0E715-628B-71A4-9118-E528F3EE35AC}"/>
              </a:ext>
            </a:extLst>
          </p:cNvPr>
          <p:cNvSpPr/>
          <p:nvPr/>
        </p:nvSpPr>
        <p:spPr>
          <a:xfrm>
            <a:off x="3049132" y="2600325"/>
            <a:ext cx="2505206" cy="7265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Generate Keypair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671DD4E-5EBE-393A-A1E9-A0879AB65552}"/>
              </a:ext>
            </a:extLst>
          </p:cNvPr>
          <p:cNvSpPr/>
          <p:nvPr/>
        </p:nvSpPr>
        <p:spPr>
          <a:xfrm>
            <a:off x="1170228" y="4578656"/>
            <a:ext cx="2505206" cy="14556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Generate either:</a:t>
            </a:r>
          </a:p>
          <a:p>
            <a:pPr algn="ctr"/>
            <a:r>
              <a:rPr lang="en-GB" dirty="0"/>
              <a:t>Self-Sign Certificate OR</a:t>
            </a:r>
          </a:p>
          <a:p>
            <a:pPr algn="ctr"/>
            <a:r>
              <a:rPr lang="en-GB" dirty="0"/>
              <a:t>CSR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EB5767-EFEA-43C7-D372-8988B13D5035}"/>
              </a:ext>
            </a:extLst>
          </p:cNvPr>
          <p:cNvSpPr/>
          <p:nvPr/>
        </p:nvSpPr>
        <p:spPr>
          <a:xfrm>
            <a:off x="8615550" y="2286713"/>
            <a:ext cx="2505206" cy="7265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Store Keypair in HSM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95A780-4189-CECB-0376-D63492C92ABB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5554338" y="2649968"/>
            <a:ext cx="3061212" cy="3136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4A38E0A-74FB-1903-345B-9850D1479970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flipH="1">
            <a:off x="2422831" y="3326835"/>
            <a:ext cx="1878904" cy="12518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04AFE52-9E16-2A25-7071-E4EB82EA17C5}"/>
              </a:ext>
            </a:extLst>
          </p:cNvPr>
          <p:cNvSpPr/>
          <p:nvPr/>
        </p:nvSpPr>
        <p:spPr>
          <a:xfrm>
            <a:off x="4717600" y="4578656"/>
            <a:ext cx="6803841" cy="14556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Either option:</a:t>
            </a:r>
          </a:p>
          <a:p>
            <a:pPr marL="342900" indent="-342900" algn="ctr">
              <a:buAutoNum type="arabicPeriod"/>
            </a:pPr>
            <a:r>
              <a:rPr lang="en-GB" dirty="0"/>
              <a:t>Password to activate keypair is split into threshold scheme (HSM or Software)</a:t>
            </a:r>
          </a:p>
          <a:p>
            <a:pPr marL="342900" indent="-342900" algn="ctr">
              <a:buAutoNum type="arabicPeriod"/>
            </a:pPr>
            <a:r>
              <a:rPr lang="en-GB" dirty="0"/>
              <a:t>Private key is split into threshold scheme (Software)</a:t>
            </a:r>
          </a:p>
          <a:p>
            <a:pPr marL="342900" indent="-342900" algn="ctr">
              <a:buAutoNum type="arabicPeriod"/>
            </a:pPr>
            <a:r>
              <a:rPr lang="en-GB" dirty="0"/>
              <a:t>Creator decide what to do (HSM &amp; Software)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44337A3-BDA4-CEFD-193E-BA7FAC433B9D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>
            <a:off x="4301735" y="3326835"/>
            <a:ext cx="3817786" cy="12518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2650BB0-E723-861C-B4DF-69F703963DF4}"/>
              </a:ext>
            </a:extLst>
          </p:cNvPr>
          <p:cNvSpPr/>
          <p:nvPr/>
        </p:nvSpPr>
        <p:spPr>
          <a:xfrm>
            <a:off x="8615550" y="3202221"/>
            <a:ext cx="2505206" cy="7265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Store Keypair in software keystore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5CB8AD-E9E9-3836-DBE4-2B3372AF8678}"/>
              </a:ext>
            </a:extLst>
          </p:cNvPr>
          <p:cNvCxnSpPr>
            <a:cxnSpLocks/>
            <a:stCxn id="20" idx="3"/>
            <a:endCxn id="8" idx="1"/>
          </p:cNvCxnSpPr>
          <p:nvPr/>
        </p:nvCxnSpPr>
        <p:spPr>
          <a:xfrm>
            <a:off x="5554338" y="2963580"/>
            <a:ext cx="3061212" cy="6018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25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296A4-7010-7B60-5566-EAA285C8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EA31D-5013-2E11-E789-6A4E0A84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Certificate Renewal – Key Rollover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6DEC8C5-0A9F-1398-685C-2CDBC463C929}"/>
              </a:ext>
            </a:extLst>
          </p:cNvPr>
          <p:cNvSpPr/>
          <p:nvPr/>
        </p:nvSpPr>
        <p:spPr>
          <a:xfrm>
            <a:off x="4112623" y="1384663"/>
            <a:ext cx="219456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Root CA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FA1D9A7-B38C-F674-FEC2-FC32990B2B5F}"/>
              </a:ext>
            </a:extLst>
          </p:cNvPr>
          <p:cNvSpPr/>
          <p:nvPr/>
        </p:nvSpPr>
        <p:spPr>
          <a:xfrm>
            <a:off x="6720840" y="2621281"/>
            <a:ext cx="2194560" cy="9144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 CA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F17B418-C4C1-B75C-0D23-E57B227C9D10}"/>
              </a:ext>
            </a:extLst>
          </p:cNvPr>
          <p:cNvSpPr/>
          <p:nvPr/>
        </p:nvSpPr>
        <p:spPr>
          <a:xfrm>
            <a:off x="4112623" y="2621281"/>
            <a:ext cx="2194560" cy="9144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 CA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FF283D-78BE-9E31-8D7D-4D20F5035939}"/>
              </a:ext>
            </a:extLst>
          </p:cNvPr>
          <p:cNvSpPr/>
          <p:nvPr/>
        </p:nvSpPr>
        <p:spPr>
          <a:xfrm>
            <a:off x="1504406" y="2621281"/>
            <a:ext cx="2194560" cy="9144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 CA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9054171-61D8-179F-92CA-12EAC570CABF}"/>
              </a:ext>
            </a:extLst>
          </p:cNvPr>
          <p:cNvSpPr/>
          <p:nvPr/>
        </p:nvSpPr>
        <p:spPr>
          <a:xfrm>
            <a:off x="6720840" y="3844835"/>
            <a:ext cx="2194560" cy="9144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 CA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FE90895-0F85-5873-1002-E056A7CF3AA3}"/>
              </a:ext>
            </a:extLst>
          </p:cNvPr>
          <p:cNvSpPr/>
          <p:nvPr/>
        </p:nvSpPr>
        <p:spPr>
          <a:xfrm>
            <a:off x="9159240" y="3844835"/>
            <a:ext cx="2194560" cy="9144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 CA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1985D80-1224-51E4-9F74-48115E468229}"/>
              </a:ext>
            </a:extLst>
          </p:cNvPr>
          <p:cNvSpPr/>
          <p:nvPr/>
        </p:nvSpPr>
        <p:spPr>
          <a:xfrm>
            <a:off x="1504406" y="3844835"/>
            <a:ext cx="2194560" cy="9144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 CA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98E4A4E-F667-8204-19DE-9D714F43541C}"/>
              </a:ext>
            </a:extLst>
          </p:cNvPr>
          <p:cNvSpPr/>
          <p:nvPr/>
        </p:nvSpPr>
        <p:spPr>
          <a:xfrm>
            <a:off x="1504406" y="5225143"/>
            <a:ext cx="2194560" cy="9144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Subscriber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CA96FF5-AB6A-6E7A-772E-FE4AE664FDCE}"/>
              </a:ext>
            </a:extLst>
          </p:cNvPr>
          <p:cNvSpPr/>
          <p:nvPr/>
        </p:nvSpPr>
        <p:spPr>
          <a:xfrm>
            <a:off x="6720840" y="5225143"/>
            <a:ext cx="2194560" cy="9144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Subscriber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2C730A0-CD46-1B52-2E31-5CA85ABCDB0B}"/>
              </a:ext>
            </a:extLst>
          </p:cNvPr>
          <p:cNvSpPr/>
          <p:nvPr/>
        </p:nvSpPr>
        <p:spPr>
          <a:xfrm>
            <a:off x="9159240" y="5199017"/>
            <a:ext cx="2194560" cy="9144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Subscriber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C55DE7B-8EEB-1B64-E4C5-586C47B7D5D3}"/>
              </a:ext>
            </a:extLst>
          </p:cNvPr>
          <p:cNvSpPr/>
          <p:nvPr/>
        </p:nvSpPr>
        <p:spPr>
          <a:xfrm>
            <a:off x="4112623" y="5225143"/>
            <a:ext cx="2194560" cy="9144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Subscriber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5C9939-C175-6FF5-D45F-D1B4ECEB5F61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209903" y="2299063"/>
            <a:ext cx="0" cy="3222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522D23C-71A8-D623-1198-6569905F3E9D}"/>
              </a:ext>
            </a:extLst>
          </p:cNvPr>
          <p:cNvCxnSpPr>
            <a:cxnSpLocks/>
            <a:stCxn id="4" idx="1"/>
            <a:endCxn id="7" idx="0"/>
          </p:cNvCxnSpPr>
          <p:nvPr/>
        </p:nvCxnSpPr>
        <p:spPr>
          <a:xfrm rot="10800000" flipV="1">
            <a:off x="2601687" y="1841863"/>
            <a:ext cx="1510937" cy="779418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A4681105-4305-7141-6AF1-F947D9168652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6307183" y="1841863"/>
            <a:ext cx="1510937" cy="779418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A09128C-2094-6EE0-2BC6-16F99AA71B2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7818120" y="3535681"/>
            <a:ext cx="0" cy="3091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6D45C04E-86CA-E009-659A-5E2A3E21F143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>
            <a:off x="8915400" y="3078481"/>
            <a:ext cx="1341120" cy="766354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E1B4433-CF83-0410-46AA-496967674806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2601686" y="3535681"/>
            <a:ext cx="0" cy="3091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B023740-5F63-D64B-9CA4-CA4FFE32BEB8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10256520" y="4759235"/>
            <a:ext cx="0" cy="4397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73332BF-A55D-D451-765C-A16646D49FE7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7818120" y="4759235"/>
            <a:ext cx="0" cy="4659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B6FA219-675B-1DCB-5C00-4C99E69ADC74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5209903" y="3535681"/>
            <a:ext cx="0" cy="16894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16F31AD-37A9-8DA0-B143-23933F8FF2D3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2601686" y="4759235"/>
            <a:ext cx="0" cy="4659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4CB47A2-C75E-0D22-E46F-928DBC70B208}"/>
              </a:ext>
            </a:extLst>
          </p:cNvPr>
          <p:cNvSpPr txBox="1"/>
          <p:nvPr/>
        </p:nvSpPr>
        <p:spPr>
          <a:xfrm>
            <a:off x="8232840" y="1443110"/>
            <a:ext cx="3559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Subject expiry date cannot be later then issuer</a:t>
            </a:r>
          </a:p>
        </p:txBody>
      </p:sp>
    </p:spTree>
    <p:extLst>
      <p:ext uri="{BB962C8B-B14F-4D97-AF65-F5344CB8AC3E}">
        <p14:creationId xmlns:p14="http://schemas.microsoft.com/office/powerpoint/2010/main" val="2555677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2487E-89C0-D033-978D-A4CD7CA59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CA Environment (Enterprise)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47D2D29-3BB3-E057-2DA1-A5ED429DB00E}"/>
              </a:ext>
            </a:extLst>
          </p:cNvPr>
          <p:cNvSpPr/>
          <p:nvPr/>
        </p:nvSpPr>
        <p:spPr>
          <a:xfrm>
            <a:off x="6695689" y="2209278"/>
            <a:ext cx="186637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 Engine</a:t>
            </a:r>
          </a:p>
        </p:txBody>
      </p:sp>
      <p:pic>
        <p:nvPicPr>
          <p:cNvPr id="6" name="Picture 5" descr="A rectangular electronic device with a black background&#10;&#10;AI-generated content may be incorrect.">
            <a:extLst>
              <a:ext uri="{FF2B5EF4-FFF2-40B4-BE49-F238E27FC236}">
                <a16:creationId xmlns:a16="http://schemas.microsoft.com/office/drawing/2014/main" id="{A0A3C356-44F5-E986-75DA-03A9FBCF9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934" y="1967629"/>
            <a:ext cx="1866378" cy="1399784"/>
          </a:xfrm>
          <a:prstGeom prst="rect">
            <a:avLst/>
          </a:prstGeom>
        </p:spPr>
      </p:pic>
      <p:pic>
        <p:nvPicPr>
          <p:cNvPr id="7" name="Picture 6" descr="A rectangular electronic device with a black background&#10;&#10;AI-generated content may be incorrect.">
            <a:extLst>
              <a:ext uri="{FF2B5EF4-FFF2-40B4-BE49-F238E27FC236}">
                <a16:creationId xmlns:a16="http://schemas.microsoft.com/office/drawing/2014/main" id="{5640CB1B-5ADA-DA6B-7D64-B51EF22F1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056" y="2120029"/>
            <a:ext cx="1866378" cy="13997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E96F38-A155-D4F6-9041-5C6248120DB8}"/>
              </a:ext>
            </a:extLst>
          </p:cNvPr>
          <p:cNvSpPr txBox="1"/>
          <p:nvPr/>
        </p:nvSpPr>
        <p:spPr>
          <a:xfrm>
            <a:off x="10090232" y="3181704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HSM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65D9E97-32D8-A486-33DB-23C67C394FF7}"/>
              </a:ext>
            </a:extLst>
          </p:cNvPr>
          <p:cNvSpPr/>
          <p:nvPr/>
        </p:nvSpPr>
        <p:spPr>
          <a:xfrm>
            <a:off x="3204320" y="2226501"/>
            <a:ext cx="186637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RA System</a:t>
            </a:r>
          </a:p>
          <a:p>
            <a:pPr algn="ctr"/>
            <a:r>
              <a:rPr lang="en-GB" dirty="0"/>
              <a:t>(Web Services + Portal)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E8975F3-4746-9B79-A63E-9EECAE1E8FC3}"/>
              </a:ext>
            </a:extLst>
          </p:cNvPr>
          <p:cNvSpPr/>
          <p:nvPr/>
        </p:nvSpPr>
        <p:spPr>
          <a:xfrm>
            <a:off x="6375748" y="1690688"/>
            <a:ext cx="5523978" cy="2079646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1189C-7E8D-8C94-48C0-6F44773BFCC1}"/>
              </a:ext>
            </a:extLst>
          </p:cNvPr>
          <p:cNvSpPr txBox="1"/>
          <p:nvPr/>
        </p:nvSpPr>
        <p:spPr>
          <a:xfrm>
            <a:off x="8116775" y="1530356"/>
            <a:ext cx="230383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i="1" dirty="0"/>
              <a:t>Private Network Zone</a:t>
            </a:r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560B053B-09E9-4EE6-95E0-89FBC361FF75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V="1">
            <a:off x="5070699" y="2666478"/>
            <a:ext cx="1624990" cy="17223"/>
          </a:xfrm>
          <a:prstGeom prst="curvedConnector3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51FD62A-FF91-951F-5872-3B19F41A0B61}"/>
              </a:ext>
            </a:extLst>
          </p:cNvPr>
          <p:cNvSpPr txBox="1"/>
          <p:nvPr/>
        </p:nvSpPr>
        <p:spPr>
          <a:xfrm>
            <a:off x="5250760" y="2417568"/>
            <a:ext cx="13340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Mutual </a:t>
            </a:r>
          </a:p>
          <a:p>
            <a:pPr algn="ctr"/>
            <a:r>
              <a:rPr lang="en-GB" sz="1400" dirty="0"/>
              <a:t>Authentication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FA27622-8ACB-12E8-ED18-AA3F74904F10}"/>
              </a:ext>
            </a:extLst>
          </p:cNvPr>
          <p:cNvSpPr/>
          <p:nvPr/>
        </p:nvSpPr>
        <p:spPr>
          <a:xfrm>
            <a:off x="838200" y="3541734"/>
            <a:ext cx="225494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LDAP</a:t>
            </a:r>
          </a:p>
          <a:p>
            <a:pPr algn="ctr"/>
            <a:r>
              <a:rPr lang="en-GB" dirty="0"/>
              <a:t>(Certificate + CRL)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879DAB9-2B4E-7919-C986-EBC9153DEA88}"/>
              </a:ext>
            </a:extLst>
          </p:cNvPr>
          <p:cNvSpPr/>
          <p:nvPr/>
        </p:nvSpPr>
        <p:spPr>
          <a:xfrm>
            <a:off x="838200" y="4606446"/>
            <a:ext cx="225494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Online Certificate Status Protocol (OCSP)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E8DFC1E-928E-0405-4DE5-E45F8AC7ABCF}"/>
              </a:ext>
            </a:extLst>
          </p:cNvPr>
          <p:cNvSpPr/>
          <p:nvPr/>
        </p:nvSpPr>
        <p:spPr>
          <a:xfrm>
            <a:off x="838200" y="5671158"/>
            <a:ext cx="225494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Digital Time Stamping *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39426EAC-7D63-D0EA-1942-F8BA5F80C956}"/>
              </a:ext>
            </a:extLst>
          </p:cNvPr>
          <p:cNvCxnSpPr>
            <a:cxnSpLocks/>
            <a:stCxn id="9" idx="2"/>
            <a:endCxn id="19" idx="3"/>
          </p:cNvCxnSpPr>
          <p:nvPr/>
        </p:nvCxnSpPr>
        <p:spPr>
          <a:xfrm rot="5400000">
            <a:off x="3186309" y="3047732"/>
            <a:ext cx="858033" cy="1044370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9C436DFD-31DC-610E-ACC7-23761EFC7F2C}"/>
              </a:ext>
            </a:extLst>
          </p:cNvPr>
          <p:cNvCxnSpPr>
            <a:cxnSpLocks/>
            <a:stCxn id="9" idx="2"/>
            <a:endCxn id="20" idx="3"/>
          </p:cNvCxnSpPr>
          <p:nvPr/>
        </p:nvCxnSpPr>
        <p:spPr>
          <a:xfrm rot="5400000">
            <a:off x="2653953" y="3580088"/>
            <a:ext cx="1922745" cy="1044370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8AFF6692-0396-0F5C-1908-D4249D577F7F}"/>
              </a:ext>
            </a:extLst>
          </p:cNvPr>
          <p:cNvCxnSpPr>
            <a:cxnSpLocks/>
            <a:stCxn id="9" idx="2"/>
            <a:endCxn id="21" idx="3"/>
          </p:cNvCxnSpPr>
          <p:nvPr/>
        </p:nvCxnSpPr>
        <p:spPr>
          <a:xfrm rot="5400000">
            <a:off x="2121597" y="4112444"/>
            <a:ext cx="2987457" cy="1044370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2D8B84D5-5A9F-2C32-31CF-087491B73189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8562068" y="2666478"/>
            <a:ext cx="764866" cy="1043"/>
          </a:xfrm>
          <a:prstGeom prst="curvedConnector3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766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5F63DFB3-8E7F-AF8F-98D0-47B6F3978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71" y="184850"/>
            <a:ext cx="10365560" cy="656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77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CB727335-F892-B8F5-9AEF-7DE65D3E2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91" y="190409"/>
            <a:ext cx="10339418" cy="647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49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E711F5-8A7D-A45C-E7D9-31158DC51E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3141348"/>
              </p:ext>
            </p:extLst>
          </p:nvPr>
        </p:nvGraphicFramePr>
        <p:xfrm>
          <a:off x="759390" y="288870"/>
          <a:ext cx="10673219" cy="595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8106">
                  <a:extLst>
                    <a:ext uri="{9D8B030D-6E8A-4147-A177-3AD203B41FA5}">
                      <a16:colId xmlns:a16="http://schemas.microsoft.com/office/drawing/2014/main" val="1536240059"/>
                    </a:ext>
                  </a:extLst>
                </a:gridCol>
                <a:gridCol w="2317315">
                  <a:extLst>
                    <a:ext uri="{9D8B030D-6E8A-4147-A177-3AD203B41FA5}">
                      <a16:colId xmlns:a16="http://schemas.microsoft.com/office/drawing/2014/main" val="2182392782"/>
                    </a:ext>
                  </a:extLst>
                </a:gridCol>
                <a:gridCol w="5507798">
                  <a:extLst>
                    <a:ext uri="{9D8B030D-6E8A-4147-A177-3AD203B41FA5}">
                      <a16:colId xmlns:a16="http://schemas.microsoft.com/office/drawing/2014/main" val="39782915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193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CA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Maker-Checker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CRL generation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OCSP generation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Hybrid certificate (R&amp;D) – 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GB" dirty="0"/>
                        <a:t>Multi Signature / algo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GB" dirty="0"/>
                        <a:t>KEM signature</a:t>
                      </a:r>
                    </a:p>
                    <a:p>
                      <a:pPr marL="285750" lvl="0" indent="-285750">
                        <a:buFontTx/>
                        <a:buChar char="-"/>
                      </a:pPr>
                      <a:r>
                        <a:rPr lang="en-GB" dirty="0"/>
                        <a:t>Support HSM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5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RA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Maker-Checker</a:t>
                      </a:r>
                    </a:p>
                    <a:p>
                      <a:r>
                        <a:rPr lang="en-GB" dirty="0"/>
                        <a:t>CSR verification (PQC) – Portal (R&amp;D)</a:t>
                      </a:r>
                    </a:p>
                    <a:p>
                      <a:r>
                        <a:rPr lang="en-GB" dirty="0"/>
                        <a:t>Cert profile – Portal</a:t>
                      </a:r>
                    </a:p>
                    <a:p>
                      <a:r>
                        <a:rPr lang="en-GB" dirty="0"/>
                        <a:t>Cert Suspension / Revocation – Portal</a:t>
                      </a:r>
                    </a:p>
                    <a:p>
                      <a:r>
                        <a:rPr lang="en-GB" dirty="0"/>
                        <a:t>System Config – Portal</a:t>
                      </a:r>
                    </a:p>
                    <a:p>
                      <a:r>
                        <a:rPr lang="en-GB" dirty="0"/>
                        <a:t>User Management – Portal</a:t>
                      </a:r>
                    </a:p>
                    <a:p>
                      <a:r>
                        <a:rPr lang="en-GB" dirty="0"/>
                        <a:t>Subscriber Management (PQC) – Portal</a:t>
                      </a:r>
                    </a:p>
                    <a:p>
                      <a:r>
                        <a:rPr lang="en-GB" dirty="0"/>
                        <a:t>CRL config - Portal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OCSP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Web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847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Digital Time Stamping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Engine – Time source sync</a:t>
                      </a:r>
                    </a:p>
                    <a:p>
                      <a:r>
                        <a:rPr lang="en-GB" dirty="0"/>
                        <a:t>Portal – Management</a:t>
                      </a:r>
                    </a:p>
                    <a:p>
                      <a:r>
                        <a:rPr lang="en-GB" dirty="0"/>
                        <a:t>Web services – Client to 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022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635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46E9E0-0EDB-1997-447C-70B082FFAEDD}"/>
              </a:ext>
            </a:extLst>
          </p:cNvPr>
          <p:cNvSpPr txBox="1"/>
          <p:nvPr/>
        </p:nvSpPr>
        <p:spPr>
          <a:xfrm>
            <a:off x="9614612" y="6263297"/>
            <a:ext cx="1784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 err="1">
                <a:solidFill>
                  <a:schemeClr val="bg1"/>
                </a:solidFill>
              </a:rPr>
              <a:t>hello@antrapol.com</a:t>
            </a:r>
            <a:endParaRPr lang="en-US" sz="1400" i="1" dirty="0">
              <a:solidFill>
                <a:schemeClr val="bg1"/>
              </a:solidFill>
            </a:endParaRPr>
          </a:p>
        </p:txBody>
      </p:sp>
      <p:pic>
        <p:nvPicPr>
          <p:cNvPr id="2" name="Picture 1" descr="A red ball with white letters&#10;&#10;Description automatically generated with medium confidence">
            <a:extLst>
              <a:ext uri="{FF2B5EF4-FFF2-40B4-BE49-F238E27FC236}">
                <a16:creationId xmlns:a16="http://schemas.microsoft.com/office/drawing/2014/main" id="{4CC0E99B-36DA-2FC2-C875-D7E9616CE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568641" y="6263297"/>
            <a:ext cx="484718" cy="4581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0C9936-B45D-CABF-2903-91CFE19C77B9}"/>
              </a:ext>
            </a:extLst>
          </p:cNvPr>
          <p:cNvSpPr txBox="1"/>
          <p:nvPr/>
        </p:nvSpPr>
        <p:spPr>
          <a:xfrm>
            <a:off x="200611" y="1508404"/>
            <a:ext cx="496824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i="1" dirty="0">
                <a:solidFill>
                  <a:schemeClr val="bg1"/>
                </a:solidFill>
              </a:rPr>
              <a:t>End-to-End Post Quantum (PQC) Security Solution</a:t>
            </a:r>
          </a:p>
          <a:p>
            <a:pPr algn="ctr"/>
            <a:endParaRPr lang="en-GB" sz="2800" i="1" dirty="0">
              <a:solidFill>
                <a:schemeClr val="bg1"/>
              </a:solidFill>
            </a:endParaRPr>
          </a:p>
          <a:p>
            <a:pPr algn="ctr"/>
            <a:r>
              <a:rPr lang="en-GB" sz="2800" i="1" dirty="0">
                <a:solidFill>
                  <a:schemeClr val="bg1"/>
                </a:solidFill>
              </a:rPr>
              <a:t>From military to basic security infrastructure until cross border secure platform to boost e-economy</a:t>
            </a:r>
          </a:p>
          <a:p>
            <a:pPr algn="ctr"/>
            <a:endParaRPr lang="en-GB" sz="2800" i="1" dirty="0">
              <a:solidFill>
                <a:schemeClr val="bg1"/>
              </a:solidFill>
            </a:endParaRPr>
          </a:p>
          <a:p>
            <a:pPr algn="ctr"/>
            <a:r>
              <a:rPr lang="en-GB" sz="2800" i="1" dirty="0">
                <a:solidFill>
                  <a:schemeClr val="bg1"/>
                </a:solidFill>
              </a:rPr>
              <a:t>Ensure an e-Sovereign Tomorrow</a:t>
            </a:r>
          </a:p>
        </p:txBody>
      </p:sp>
    </p:spTree>
    <p:extLst>
      <p:ext uri="{BB962C8B-B14F-4D97-AF65-F5344CB8AC3E}">
        <p14:creationId xmlns:p14="http://schemas.microsoft.com/office/powerpoint/2010/main" val="2543004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9E35F0E0F3447BB980CBC7F0F3422" ma:contentTypeVersion="3" ma:contentTypeDescription="Create a new document." ma:contentTypeScope="" ma:versionID="25ee653391f87d2305f0cb389774bb79">
  <xsd:schema xmlns:xsd="http://www.w3.org/2001/XMLSchema" xmlns:xs="http://www.w3.org/2001/XMLSchema" xmlns:p="http://schemas.microsoft.com/office/2006/metadata/properties" xmlns:ns2="7d4e8d63-b22c-494d-8402-715b1f96361b" targetNamespace="http://schemas.microsoft.com/office/2006/metadata/properties" ma:root="true" ma:fieldsID="d5feb7c6a20b317dacfdec3faba2f93c" ns2:_="">
    <xsd:import namespace="7d4e8d63-b22c-494d-8402-715b1f9636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e8d63-b22c-494d-8402-715b1f9636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703553-A9DD-4A7F-8647-5AE90B60DA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DE7C7F-19A5-4574-B438-A37E519BF9E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5555B95-1AA4-4771-91BC-DFE3658B9E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4e8d63-b22c-494d-8402-715b1f9636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5657</TotalTime>
  <Words>890</Words>
  <Application>Microsoft Office PowerPoint</Application>
  <DocSecurity>0</DocSecurity>
  <PresentationFormat>Widescreen</PresentationFormat>
  <Paragraphs>182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Certificate Authority</vt:lpstr>
      <vt:lpstr>Objective</vt:lpstr>
      <vt:lpstr>Database</vt:lpstr>
      <vt:lpstr>Role Base Access Control (RBAC)</vt:lpstr>
      <vt:lpstr>X.509 Certificate Hierarchy</vt:lpstr>
      <vt:lpstr>Keypair Protection</vt:lpstr>
      <vt:lpstr>System Bootstrap</vt:lpstr>
      <vt:lpstr>Root Key Creation (Enterprise)</vt:lpstr>
      <vt:lpstr>Root Key Creation (Embedded) Sub Root Key Creation</vt:lpstr>
      <vt:lpstr>Certificate Renewal – Key Rollover</vt:lpstr>
      <vt:lpstr>Full CA Environment (Enterprise)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2365</dc:creator>
  <cp:keywords/>
  <dc:description/>
  <cp:lastModifiedBy>Chris</cp:lastModifiedBy>
  <cp:revision>736</cp:revision>
  <dcterms:created xsi:type="dcterms:W3CDTF">2023-06-14T07:34:01Z</dcterms:created>
  <dcterms:modified xsi:type="dcterms:W3CDTF">2026-03-26T14:20:12Z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0x01010045B9E35F0E0F3447BB980CBC7F0F3422</vt:lpwstr>
  </property>
</Properties>
</file>